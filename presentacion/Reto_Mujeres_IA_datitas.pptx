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c82c7e60-1ac5-884f-887f-8e7e506ad95d}">
          <p14:sldIdLst>
            <p14:sldId id="256"/>
            <p14:sldId id="257"/>
            <p14:sldId id="258"/>
          </p14:sldIdLst>
        </p14:section>
        <p14:section name="Solución" id="{e1ba359d-8abd-e961-bbf4-621910b6c64d}">
          <p14:sldIdLst>
            <p14:sldId id="259"/>
            <p14:sldId id="260"/>
            <p14:sldId id="261"/>
          </p14:sldIdLst>
        </p14:section>
        <p14:section name="Resultados" id="{3b5f5132-a30c-71de-9f8b-8785a77c0b9c}">
          <p14:sldIdLst>
            <p14:sldId id="262"/>
            <p14:sldId id="263"/>
            <p14:sldId id="264"/>
            <p14:sldId id="265"/>
            <p14:sldId id="266"/>
          </p14:sldIdLst>
        </p14:section>
        <p14:section name="Despliegue y responsabilidad" id="{bb332642-3704-bb6c-4b8f-52062ead4b65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Cierre" id="{84740828-e676-d4ae-aa25-5f3bc7eb5cef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6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630"/>
                </a:solidFill>
                <a:latin typeface="+mn-lt"/>
              </a:rPr>
              <a:t>Tiempo medio de habla por voz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 por voz (s)</c:v>
                </c:pt>
              </c:strCache>
            </c:strRef>
          </c:tx>
          <c:spPr>
            <a:solidFill>
              <a:srgbClr val="E861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61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4B8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Mujeres</c:v>
                  </c:pt>
                  <c:pt idx="1">
                    <c:v>Hombres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113</c:v>
                </c:pt>
                <c:pt idx="1">
                  <c:v>86.6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16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6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majorGridlines>
          <c:spPr>
            <a:ln w="6350" cap="flat">
              <a:solidFill>
                <a:srgbClr val="E3D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6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630"/>
                </a:solidFill>
                <a:latin typeface="+mn-lt"/>
              </a:rPr>
              <a:t>% del tiempo de habla por muestra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Mujeres</c:v>
                </c:pt>
              </c:strCache>
            </c:strRef>
          </c:tx>
          <c:spPr>
            <a:solidFill>
              <a:srgbClr val="E861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V001</c:v>
                  </c:pt>
                  <c:pt idx="1">
                    <c:v>V002</c:v>
                  </c:pt>
                  <c:pt idx="2">
                    <c:v>V003</c:v>
                  </c:pt>
                  <c:pt idx="3">
                    <c:v>V004</c:v>
                  </c:pt>
                  <c:pt idx="4">
                    <c:v>V005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52.61</c:v>
                </c:pt>
                <c:pt idx="1">
                  <c:v>32.12</c:v>
                </c:pt>
                <c:pt idx="2">
                  <c:v>30.72</c:v>
                </c:pt>
                <c:pt idx="3">
                  <c:v>37.13</c:v>
                </c:pt>
                <c:pt idx="4">
                  <c:v>31.17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Hombres</c:v>
                </c:pt>
              </c:strCache>
            </c:strRef>
          </c:tx>
          <c:spPr>
            <a:solidFill>
              <a:srgbClr val="5B4B8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V001</c:v>
                  </c:pt>
                  <c:pt idx="1">
                    <c:v>V002</c:v>
                  </c:pt>
                  <c:pt idx="2">
                    <c:v>V003</c:v>
                  </c:pt>
                  <c:pt idx="3">
                    <c:v>V004</c:v>
                  </c:pt>
                  <c:pt idx="4">
                    <c:v>V005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47.39</c:v>
                </c:pt>
                <c:pt idx="1">
                  <c:v>67.88</c:v>
                </c:pt>
                <c:pt idx="2">
                  <c:v>69.28</c:v>
                </c:pt>
                <c:pt idx="3">
                  <c:v>62.87</c:v>
                </c:pt>
                <c:pt idx="4">
                  <c:v>68.83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16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6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3D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16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16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1630"/>
                </a:solidFill>
                <a:latin typeface="+mn-lt"/>
              </a:rPr>
              <a:t>Tipo de intervención (% del tiempo de habla)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Mujeres</c:v>
                </c:pt>
              </c:strCache>
            </c:strRef>
          </c:tx>
          <c:spPr>
            <a:solidFill>
              <a:srgbClr val="E861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Opinión</c:v>
                  </c:pt>
                  <c:pt idx="1">
                    <c:v>Explicación técnica</c:v>
                  </c:pt>
                  <c:pt idx="2">
                    <c:v>Pregunta</c:v>
                  </c:pt>
                  <c:pt idx="3">
                    <c:v>Otros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69.72</c:v>
                </c:pt>
                <c:pt idx="1">
                  <c:v>12.59</c:v>
                </c:pt>
                <c:pt idx="2">
                  <c:v>10.67</c:v>
                </c:pt>
                <c:pt idx="3">
                  <c:v>7.02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Hombres</c:v>
                </c:pt>
              </c:strCache>
            </c:strRef>
          </c:tx>
          <c:spPr>
            <a:solidFill>
              <a:srgbClr val="5B4B8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Opinión</c:v>
                  </c:pt>
                  <c:pt idx="1">
                    <c:v>Explicación técnica</c:v>
                  </c:pt>
                  <c:pt idx="2">
                    <c:v>Pregunta</c:v>
                  </c:pt>
                  <c:pt idx="3">
                    <c:v>Otros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65.26</c:v>
                </c:pt>
                <c:pt idx="1">
                  <c:v>11.38</c:v>
                </c:pt>
                <c:pt idx="2">
                  <c:v>17.86</c:v>
                </c:pt>
                <c:pt idx="3">
                  <c:v>5.5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16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6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3D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16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16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1630"/>
                </a:solidFill>
                <a:latin typeface="+mn-lt"/>
              </a:rPr>
              <a:t>Peso técnico estimado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Mujeres</c:v>
                </c:pt>
              </c:strCache>
            </c:strRef>
          </c:tx>
          <c:spPr>
            <a:solidFill>
              <a:srgbClr val="E861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Bajo</c:v>
                  </c:pt>
                  <c:pt idx="1">
                    <c:v>Medio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66.35</c:v>
                </c:pt>
                <c:pt idx="1">
                  <c:v>33.65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Hombres</c:v>
                </c:pt>
              </c:strCache>
            </c:strRef>
          </c:tx>
          <c:spPr>
            <a:solidFill>
              <a:srgbClr val="5B4B8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Bajo</c:v>
                  </c:pt>
                  <c:pt idx="1">
                    <c:v>Medio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55.39</c:v>
                </c:pt>
                <c:pt idx="1">
                  <c:v>44.61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16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6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3D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16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proyecto. Hemos trabajado con vídeos de hasta 1 hora de duración, aunque el sistema podría aplicarse a vídeos más largos. Mensaje clave: un sistema abierto que mide, sin biometría, quién habla, cuánto, cuándo y con qué peso en paneles técnicos.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Problema, caso de uso y aportación. Las cifras de la derecha son las del MVP: 5 fragmentos, 30 voces, 2.834,9 s de habla.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familias de indicadores. Rol protagonista = combinación de presencia oral, control del turno, prominencia visual y peso del contenido; ninguna por sí sola define el protagonismo.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Hemos usado vídeos de hasta 1 hora de duración, aunque el pipeline podría usarse con vídeos más largos (cada paso es reanudable). Cinco fragmentos heterogéneos de paneles técnicos de fuentes públicas. La correspondencia SPEAKER_XX con participante se hizo por revisión manual de audio y vídeo; el género procede de perfiles oficiales de participantes. Citar la licencia de cada fuente en el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Hemos usado vídeos de hasta 1 hora, pero se podrían usar vídeos más largos: el pipeline es reanudable por pasos. Flujo completo ejecutado con un solo comando: python scripts/run_pipeline.py VIDEO_ID. Cada paso se reanuda si su salida ya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candidato visual es una heurística de prominencia temporal y espacial, no una identificación. Si no hay evidencia suficiente se conserva la ambigüedad.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Formulación recomendada: en los cinco fragmentos del MVP, las intervenciones asociadas a mujeres documentadas representan el 35,87 % del tiempo de habla analizado. El tiempo medio por voz (113 s frente a 87 s) incluye en V002 voces de público fuera de plano; no es una conclusión general.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en V001 las mujeres superan el 50 % del habla (2 de 4 voces). En V002-V005 oscilan entre 30,7 % y 37,1 %.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Equivale a los gráficos 'Tipos de contenido' y 'Peso técnico estimado' del dashboard, aquí agregados por género. Los asigna un LLM sobre el texto: son una estimación y no se han validado manualmente.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Validación manual puntual sobre V001: 4 observaciones correctas y 1 microsegmento falso, ya filtrado por duración mínima. No se ha medido DER ni WER formalmente.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dashboard lee directamente outputs/aggregate_metrics.json y outputs/gender_metrics.json, así que no hace falta volver a ejecutar el pipeline para explorar los resultados. Se arranca con: python -m streamlit run app.py.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Propuesta de fases; los plazos se concretarán con la entidad que adopte la solución.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lista es una propuesta de trabajo y debe validarse con asesoría jurídica y delegado de protección de datos antes de cualquier despliegue.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género no se infiere nunca: ni por imagen, voz, nombre, reconocimiento facial ni LLM. Se usa solo el dato declarado en un perfil oficial; sin evidencia, 'unknown'.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Alineado con los requisitos de la IA fiable de la UE: supervisión humana, transparencia, privacidad, no discriminación y rendición de cuentas.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Diseño orientado al cumplimiento. La clasificación de riesgo bajo el Reglamento de IA y las bases legales concretas deben confirmarse con asesoría jurídica antes de un uso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principales riesgos son de interpretación y de medición, más que técnicos.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Recordar que hemos usado vídeos de hasta 1 hora pero se podrían usar más largos. Reforzar: abierto, medible, ético. Invitar a reutilizar 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ommons.wikimedia.org/wiki/File:Wikimania_2025_-_Wikimania@20_Keynote_Panel_on_AI.webm" TargetMode="External"/><Relationship Id="rId2" Type="http://schemas.openxmlformats.org/officeDocument/2006/relationships/hyperlink" Target="https://commons.wikimedia.org/wiki/File:Open_Access_%26_Wikipedia%2C_A_Panel_Discussion_-_Wikimania_2014_in_London.webm" TargetMode="External"/><Relationship Id="rId3" Type="http://schemas.openxmlformats.org/officeDocument/2006/relationships/hyperlink" Target="https://commons.wikimedia.org/wiki/File:Future_of_Wikimania_-_Wikimania_2025_in_Nairobi.webm" TargetMode="External"/><Relationship Id="rId4" Type="http://schemas.openxmlformats.org/officeDocument/2006/relationships/hyperlink" Target="https://media.ccc.de/v/bub2018-144-let_nature_rule_exploring_solutions_and_impacts_of_automated_environmental_decision_systems#t=601" TargetMode="External"/><Relationship Id="rId5" Type="http://schemas.openxmlformats.org/officeDocument/2006/relationships/hyperlink" Target="https://archive.fosdem.org/2021/schedule/event/compliancepanel/" TargetMode="External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RETO MUJERES POR LA IA ABIERTA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Medición multimodal del protagonismo de las mujeres en paneles y conferencias tecnológicos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Equipo Datitas  ·  SEDIA · Comunidad IA de Código Abierto</a:t>
            </a:r>
            <a:endParaRPr lang="en-US" sz="1400" dirty="0"/>
          </a:p>
        </p:txBody>
      </p:sp>
      <p:sp>
        <p:nvSpPr>
          <p:cNvPr id="5" name="motivo 1"/>
          <p:cNvSpPr/>
          <p:nvPr/>
        </p:nvSpPr>
        <p:spPr>
          <a:xfrm>
            <a:off x="7223760" y="2743200"/>
            <a:ext cx="1737360" cy="1737360"/>
          </a:xfrm>
          <a:prstGeom prst="ellipse">
            <a:avLst/>
          </a:prstGeom>
          <a:solidFill>
            <a:schemeClr val="accent1">
              <a:alpha val="8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motivo 2"/>
          <p:cNvSpPr/>
          <p:nvPr/>
        </p:nvSpPr>
        <p:spPr>
          <a:xfrm>
            <a:off x="7863840" y="3291840"/>
            <a:ext cx="1280160" cy="1280160"/>
          </a:xfrm>
          <a:prstGeom prst="ellipse">
            <a:avLst/>
          </a:prstGeom>
          <a:solidFill>
            <a:schemeClr val="accent5">
              <a:alpha val="6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Medir quién tiene la palabra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El problema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554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infrarrepresentación de las mujeres en eventos técnicos se percibe, pero rara vez se mide con datos comparables.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El caso de uso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743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Paneles y conferencias técnicas en vídeo: ¿quién habla, cuánto, quién abre, quién cierra y de qué?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Nuestra aportación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931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pipeline abierto y reproducible que produce métricas por vídeo y agregadas, sin reconocimiento facial ni inferencia de género.</a:t>
            </a:r>
            <a:endParaRPr lang="en-US" sz="1400" dirty="0"/>
          </a:p>
        </p:txBody>
      </p:sp>
      <p:sp>
        <p:nvSpPr>
          <p:cNvPr id="10" name="stat fragmentos de paneles"/>
          <p:cNvSpPr/>
          <p:nvPr/>
        </p:nvSpPr>
        <p:spPr>
          <a:xfrm>
            <a:off x="5486400" y="1188720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669280" y="1280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fragmentos de paneles</a:t>
            </a:r>
            <a:endParaRPr lang="en-US" sz="1400" dirty="0"/>
          </a:p>
        </p:txBody>
      </p:sp>
      <p:sp>
        <p:nvSpPr>
          <p:cNvPr id="13" name="stat voces analizadas"/>
          <p:cNvSpPr/>
          <p:nvPr/>
        </p:nvSpPr>
        <p:spPr>
          <a:xfrm>
            <a:off x="5486400" y="2377440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669280" y="2468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0" y="24688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voces analizadas</a:t>
            </a:r>
            <a:endParaRPr lang="en-US" sz="1400" dirty="0"/>
          </a:p>
        </p:txBody>
      </p:sp>
      <p:sp>
        <p:nvSpPr>
          <p:cNvPr id="16" name="stat de habla analizada"/>
          <p:cNvSpPr/>
          <p:nvPr/>
        </p:nvSpPr>
        <p:spPr>
          <a:xfrm>
            <a:off x="5486400" y="3566160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669280" y="36576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 min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0" y="36576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habla analizada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Propuesta de métricas</a:t>
            </a:r>
            <a:endParaRPr lang="en-US" sz="2800" dirty="0"/>
          </a:p>
        </p:txBody>
      </p:sp>
      <p:sp>
        <p:nvSpPr>
          <p:cNvPr id="4" name="metrica 1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badge 1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371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Presencia oral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20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Tiempo de habla y porcentaje sobre el total de cada voz.</a:t>
            </a:r>
            <a:endParaRPr lang="en-US" sz="1400" dirty="0"/>
          </a:p>
        </p:txBody>
      </p:sp>
      <p:sp>
        <p:nvSpPr>
          <p:cNvPr id="9" name="metrica 2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badge 2"/>
          <p:cNvSpPr/>
          <p:nvPr/>
        </p:nvSpPr>
        <p:spPr>
          <a:xfrm>
            <a:off x="4846320" y="13716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94960" y="1371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Control del turno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1920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Número de turnos, duración media y máxima, quién abre y quién cierra.</a:t>
            </a:r>
            <a:endParaRPr lang="en-US" sz="1400" dirty="0"/>
          </a:p>
        </p:txBody>
      </p:sp>
      <p:sp>
        <p:nvSpPr>
          <p:cNvPr id="14" name="metrica 3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badge 3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Prominencia visual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611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Candidato visual dominante mientras habla: tamaño, centralidad y tiempo visible.</a:t>
            </a:r>
            <a:endParaRPr lang="en-US" sz="1400" dirty="0"/>
          </a:p>
        </p:txBody>
      </p:sp>
      <p:sp>
        <p:nvSpPr>
          <p:cNvPr id="19" name="metrica 4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badge 4"/>
          <p:cNvSpPr/>
          <p:nvPr/>
        </p:nvSpPr>
        <p:spPr>
          <a:xfrm>
            <a:off x="4846320" y="3063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463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39496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Contenido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3611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Tipo de intervención y peso técnico, ponderados por duración.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Desagregación por género únicamente con información declarada y verificable.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Datos utilizados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572000"/>
                <a:gridCol w="2286000"/>
                <a:gridCol w="640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Muestra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Fuente (con enlace)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Situación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Voces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V001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hlinkClick r:id="rId1" invalidUrl="" action="" tgtFrame="" tooltip="https://commons.wikimedia.org/wiki/File:Wikimania_2025_-_Wikimania@20_Keynote_Panel_on_AI.webm" history="1" highlightClick="0" endSnd="0"/>
                        </a:rPr>
                        <a:t>Wikimania 2025: Wikimania@20 Keynote Panel on AI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</a:rPr>
                        <a:t>Wikimedia Commons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Panel con cambios de plano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V002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hlinkClick r:id="rId2" invalidUrl="" action="" tgtFrame="" tooltip="https://commons.wikimedia.org/wiki/File:Open_Access_%26_Wikipedia%2C_A_Panel_Discussion_-_Wikimania_2014_in_London.webm" history="1" highlightClick="0" endSnd="0"/>
                        </a:rPr>
                        <a:t>Open Access &amp; Wikipedia, panel (Wikimania 2014, Londres)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</a:rPr>
                        <a:t>Wikimedia Commons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Panel con preguntas del público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V003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hlinkClick r:id="rId3" invalidUrl="" action="" tgtFrame="" tooltip="https://commons.wikimedia.org/wiki/File:Future_of_Wikimania_-_Wikimania_2025_in_Nairobi.webm" history="1" highlightClick="0" endSnd="0"/>
                        </a:rPr>
                        <a:t>Future of Wikimania (Wikimania 2025, Nairobi)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</a:rPr>
                        <a:t>Wikimedia Commons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Panel con otra realización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V004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hlinkClick r:id="rId4" invalidUrl="" action="" tgtFrame="" tooltip="https://media.ccc.de/v/bub2018-144-let_nature_rule_exploring_solutions_and_impacts_of_automated_environmental_decision_systems#t=601" history="1" highlightClick="0" endSnd="0"/>
                        </a:rPr>
                        <a:t>Let nature rule: automated environmental decisions (desde 10:01)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</a:rPr>
                        <a:t>media.ccc.de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Plano grupal persistente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V005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hlinkClick r:id="rId5" invalidUrl="" action="" tgtFrame="" tooltip="https://archive.fosdem.org/2021/schedule/event/compliancepanel/" history="1" highlightClick="0" endSnd="0"/>
                        </a:rPr>
                        <a:t>FOSDEM 2021: Compliance panel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</a:rPr>
                        <a:t>archive.fosdem.org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Mosaico de 5 voces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023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2.834,9 s de habla (≈ 47 min 15 s) · 30 voces · género de perfil oficial, nunca inferido · fuentes públicas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Aproximación: pipeline multimodal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ENTRADA</a:t>
            </a:r>
            <a:endParaRPr lang="en-US" sz="1200" dirty="0"/>
          </a:p>
        </p:txBody>
      </p:sp>
      <p:sp>
        <p:nvSpPr>
          <p:cNvPr id="5" name="paso Vídeo del panel"/>
          <p:cNvSpPr/>
          <p:nvPr/>
        </p:nvSpPr>
        <p:spPr>
          <a:xfrm>
            <a:off x="457200" y="150876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48640" y="1508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Vídeo del panel</a:t>
            </a:r>
            <a:endParaRPr lang="en-US" sz="1300" dirty="0"/>
          </a:p>
        </p:txBody>
      </p:sp>
      <p:sp>
        <p:nvSpPr>
          <p:cNvPr id="7" name="paso Audio 16 kHz mono (ffmpeg)"/>
          <p:cNvSpPr/>
          <p:nvPr/>
        </p:nvSpPr>
        <p:spPr>
          <a:xfrm>
            <a:off x="457200" y="237744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4864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Audio 16 kHz mono (ffmpeg)</a:t>
            </a:r>
            <a:endParaRPr lang="en-US" sz="1300" dirty="0"/>
          </a:p>
        </p:txBody>
      </p:sp>
      <p:sp>
        <p:nvSpPr>
          <p:cNvPr id="9" name="flecha 0"/>
          <p:cNvSpPr/>
          <p:nvPr/>
        </p:nvSpPr>
        <p:spPr>
          <a:xfrm>
            <a:off x="2322576" y="2514600"/>
            <a:ext cx="246888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0604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PERCEPCIÓN</a:t>
            </a:r>
            <a:endParaRPr lang="en-US" sz="1200" dirty="0"/>
          </a:p>
        </p:txBody>
      </p:sp>
      <p:sp>
        <p:nvSpPr>
          <p:cNvPr id="11" name="paso Diarización (pyannote)"/>
          <p:cNvSpPr/>
          <p:nvPr/>
        </p:nvSpPr>
        <p:spPr>
          <a:xfrm>
            <a:off x="2606040" y="150876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697480" y="1508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Diarización (pyannote)</a:t>
            </a:r>
            <a:endParaRPr lang="en-US" sz="1300" dirty="0"/>
          </a:p>
        </p:txBody>
      </p:sp>
      <p:sp>
        <p:nvSpPr>
          <p:cNvPr id="13" name="paso Transcripción (faster-whisper)"/>
          <p:cNvSpPr/>
          <p:nvPr/>
        </p:nvSpPr>
        <p:spPr>
          <a:xfrm>
            <a:off x="2606040" y="237744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69748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Transcripción (faster-whisper)</a:t>
            </a:r>
            <a:endParaRPr lang="en-US" sz="1300" dirty="0"/>
          </a:p>
        </p:txBody>
      </p:sp>
      <p:sp>
        <p:nvSpPr>
          <p:cNvPr id="15" name="paso Personas (YOLO + ByteTrack)"/>
          <p:cNvSpPr/>
          <p:nvPr/>
        </p:nvSpPr>
        <p:spPr>
          <a:xfrm>
            <a:off x="2606040" y="324612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269748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Personas (YOLO + ByteTrack)</a:t>
            </a:r>
            <a:endParaRPr lang="en-US" sz="1300" dirty="0"/>
          </a:p>
        </p:txBody>
      </p:sp>
      <p:sp>
        <p:nvSpPr>
          <p:cNvPr id="17" name="flecha 1"/>
          <p:cNvSpPr/>
          <p:nvPr/>
        </p:nvSpPr>
        <p:spPr>
          <a:xfrm>
            <a:off x="4471416" y="2514600"/>
            <a:ext cx="246888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5488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FUSIÓN</a:t>
            </a:r>
            <a:endParaRPr lang="en-US" sz="1200" dirty="0"/>
          </a:p>
        </p:txBody>
      </p:sp>
      <p:sp>
        <p:nvSpPr>
          <p:cNvPr id="19" name="paso Alineación voz-imagen"/>
          <p:cNvSpPr/>
          <p:nvPr/>
        </p:nvSpPr>
        <p:spPr>
          <a:xfrm>
            <a:off x="4754880" y="150876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846320" y="1508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Alineación voz-imagen</a:t>
            </a:r>
            <a:endParaRPr lang="en-US" sz="1300" dirty="0"/>
          </a:p>
        </p:txBody>
      </p:sp>
      <p:sp>
        <p:nvSpPr>
          <p:cNvPr id="21" name="paso Alineación voz-texto"/>
          <p:cNvSpPr/>
          <p:nvPr/>
        </p:nvSpPr>
        <p:spPr>
          <a:xfrm>
            <a:off x="4754880" y="237744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84632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Alineación voz-texto</a:t>
            </a:r>
            <a:endParaRPr lang="en-US" sz="1300" dirty="0"/>
          </a:p>
        </p:txBody>
      </p:sp>
      <p:sp>
        <p:nvSpPr>
          <p:cNvPr id="23" name="paso OCR de rótulos (opcional)"/>
          <p:cNvSpPr/>
          <p:nvPr/>
        </p:nvSpPr>
        <p:spPr>
          <a:xfrm>
            <a:off x="4754880" y="324612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484632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OCR de rótulos (opcional)</a:t>
            </a:r>
            <a:endParaRPr lang="en-US" sz="1300" dirty="0"/>
          </a:p>
        </p:txBody>
      </p:sp>
      <p:sp>
        <p:nvSpPr>
          <p:cNvPr id="25" name="flecha 2"/>
          <p:cNvSpPr/>
          <p:nvPr/>
        </p:nvSpPr>
        <p:spPr>
          <a:xfrm>
            <a:off x="6620256" y="2514600"/>
            <a:ext cx="246888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90372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MÉTRICAS</a:t>
            </a:r>
            <a:endParaRPr lang="en-US" sz="1200" dirty="0"/>
          </a:p>
        </p:txBody>
      </p:sp>
      <p:sp>
        <p:nvSpPr>
          <p:cNvPr id="27" name="paso Protagonismo y turnos"/>
          <p:cNvSpPr/>
          <p:nvPr/>
        </p:nvSpPr>
        <p:spPr>
          <a:xfrm>
            <a:off x="6903720" y="150876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6995160" y="1508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Protagonismo y turnos</a:t>
            </a:r>
            <a:endParaRPr lang="en-US" sz="1300" dirty="0"/>
          </a:p>
        </p:txBody>
      </p:sp>
      <p:sp>
        <p:nvSpPr>
          <p:cNvPr id="29" name="paso Semántica (Mistral, OVHcloud)"/>
          <p:cNvSpPr/>
          <p:nvPr/>
        </p:nvSpPr>
        <p:spPr>
          <a:xfrm>
            <a:off x="6903720" y="237744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Semántica (Mistral, OVHcloud)</a:t>
            </a:r>
            <a:endParaRPr lang="en-US" sz="1300" dirty="0"/>
          </a:p>
        </p:txBody>
      </p:sp>
      <p:sp>
        <p:nvSpPr>
          <p:cNvPr id="31" name="paso Métricas finales + género"/>
          <p:cNvSpPr/>
          <p:nvPr/>
        </p:nvSpPr>
        <p:spPr>
          <a:xfrm>
            <a:off x="6903720" y="3246120"/>
            <a:ext cx="18288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99516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Métricas finales + género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4389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LLM intercambiable (API compatible con OpenAI) · reanudable por paso · IDs anónimos · JSON auditable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Alineación voz-imagen sin biometría</a:t>
            </a:r>
            <a:endParaRPr lang="en-US" sz="2800" dirty="0"/>
          </a:p>
        </p:txBody>
      </p:sp>
      <p:sp>
        <p:nvSpPr>
          <p:cNvPr id="4" name="reglas"/>
          <p:cNvSpPr/>
          <p:nvPr/>
        </p:nvSpPr>
        <p:spPr>
          <a:xfrm>
            <a:off x="457200" y="1188720"/>
            <a:ext cx="42062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Cómo se elige el candidato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8308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Prominencia = 0,75·área + 0,25·centralidad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Puntuación = 0,55·cobertura + 0,45·dominancia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 acepta si cobertura ≥ 0,20, dominancia ≥ 0,45 y margen ≥ 0,08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 descartan personas pequeñas (área &lt; 2,5 %, altura &lt; 20 %)</a:t>
            </a:r>
            <a:endParaRPr lang="en-US" sz="1400" dirty="0"/>
          </a:p>
        </p:txBody>
      </p:sp>
      <p:sp>
        <p:nvSpPr>
          <p:cNvPr id="7" name="estado 0"/>
          <p:cNvSpPr/>
          <p:nvPr/>
        </p:nvSpPr>
        <p:spPr>
          <a:xfrm>
            <a:off x="4937760" y="1298448"/>
            <a:ext cx="256032" cy="25603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4924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candidate_selected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34924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Candidato visual suficientemente dominante</a:t>
            </a:r>
            <a:endParaRPr lang="en-US" sz="1200" dirty="0"/>
          </a:p>
        </p:txBody>
      </p:sp>
      <p:sp>
        <p:nvSpPr>
          <p:cNvPr id="10" name="estado 1"/>
          <p:cNvSpPr/>
          <p:nvPr/>
        </p:nvSpPr>
        <p:spPr>
          <a:xfrm>
            <a:off x="4937760" y="2075688"/>
            <a:ext cx="256032" cy="25603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4924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ambiguous_group_shot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49240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Varias personas visibles, sin evidencia para elegir</a:t>
            </a:r>
            <a:endParaRPr lang="en-US" sz="1200" dirty="0"/>
          </a:p>
        </p:txBody>
      </p:sp>
      <p:sp>
        <p:nvSpPr>
          <p:cNvPr id="13" name="estado 2"/>
          <p:cNvSpPr/>
          <p:nvPr/>
        </p:nvSpPr>
        <p:spPr>
          <a:xfrm>
            <a:off x="4937760" y="2852928"/>
            <a:ext cx="256032" cy="25603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4924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no_visual_candidate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34924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Ninguna detección cumple los criterios</a:t>
            </a:r>
            <a:endParaRPr lang="en-US" sz="1200" dirty="0"/>
          </a:p>
        </p:txBody>
      </p:sp>
      <p:sp>
        <p:nvSpPr>
          <p:cNvPr id="16" name="estado 3"/>
          <p:cNvSpPr/>
          <p:nvPr/>
        </p:nvSpPr>
        <p:spPr>
          <a:xfrm>
            <a:off x="4937760" y="3630168"/>
            <a:ext cx="256032" cy="25603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49240" y="3520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segment_too_short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49240" y="3840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Segmento de audio demasiado corto (&lt; 0,5 s)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937760" y="4297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Candidato visual ≠ identificación de la persona.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Resultados: reparto global del habla</a:t>
            </a:r>
            <a:endParaRPr lang="en-US" sz="2800" dirty="0"/>
          </a:p>
        </p:txBody>
      </p:sp>
      <p:sp>
        <p:nvSpPr>
          <p:cNvPr id="4" name="stat 0"/>
          <p:cNvSpPr/>
          <p:nvPr/>
        </p:nvSpPr>
        <p:spPr>
          <a:xfrm>
            <a:off x="457200" y="1188720"/>
            <a:ext cx="3657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35,87 %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2514600" y="12344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 habla, mujeres</a:t>
            </a:r>
            <a:endParaRPr lang="en-US" sz="1400" dirty="0"/>
          </a:p>
        </p:txBody>
      </p:sp>
      <p:sp>
        <p:nvSpPr>
          <p:cNvPr id="7" name="stat 1"/>
          <p:cNvSpPr/>
          <p:nvPr/>
        </p:nvSpPr>
        <p:spPr>
          <a:xfrm>
            <a:off x="457200" y="2286000"/>
            <a:ext cx="3657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0080" y="23317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64,13 %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2514600" y="23317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 habla, hombres</a:t>
            </a:r>
            <a:endParaRPr lang="en-US" sz="1400" dirty="0"/>
          </a:p>
        </p:txBody>
      </p:sp>
      <p:sp>
        <p:nvSpPr>
          <p:cNvPr id="10" name="stat 2"/>
          <p:cNvSpPr/>
          <p:nvPr/>
        </p:nvSpPr>
        <p:spPr>
          <a:xfrm>
            <a:off x="457200" y="3383280"/>
            <a:ext cx="3657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40080" y="34290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de 30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2514600" y="34290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voces son mujeres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480560" y="109728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45720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5 fragmentos seleccionados: no generalizable a todas las conferencias.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Resultados: variación entre vídeos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Solo V001 supera el 50 % de habla femenina; el resto se sitúa entre 30,7 % y 37,1 %.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Resultados: contenido y peso técnico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49377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486400" y="1097280"/>
          <a:ext cx="3200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1"/>
          <p:cNvSpPr txBox="1"/>
          <p:nvPr/>
        </p:nvSpPr>
        <p:spPr>
          <a:xfrm>
            <a:off x="457200" y="4343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Estimación de un LLM sobre el texto, sin validación manual. «Otros» agrupa moderación, cierre, introducción, organización y respuesta.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Validación y límites</a:t>
            </a:r>
            <a:endParaRPr lang="en-US" sz="2800" dirty="0"/>
          </a:p>
        </p:txBody>
      </p:sp>
      <p:sp>
        <p:nvSpPr>
          <p:cNvPr id="4" name="validacion"/>
          <p:cNvSpPr/>
          <p:nvPr/>
        </p:nvSpPr>
        <p:spPr>
          <a:xfrm>
            <a:off x="457200" y="1188720"/>
            <a:ext cx="40233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Validación realizada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830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Revisión manual puntual en V001: 4 correctas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 microsegmento falso, filtrado por duración mínima (0,5 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Correspondencia voz-participante verificada a mano en las 5 muestras</a:t>
            </a:r>
            <a:endParaRPr lang="en-US" sz="1400" dirty="0"/>
          </a:p>
        </p:txBody>
      </p:sp>
      <p:sp>
        <p:nvSpPr>
          <p:cNvPr id="7" name="limites"/>
          <p:cNvSpPr/>
          <p:nvPr/>
        </p:nvSpPr>
        <p:spPr>
          <a:xfrm>
            <a:off x="4663440" y="1188720"/>
            <a:ext cx="40233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Límites conocidos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7830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V004 y V005: planos grupales, 0 % de alineación voz-imagen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Solo 5 fragmentos: sin conclusiones generales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 medir aún error de diarización ni de transcripción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Dashboard interactivo con Streamlit</a:t>
            </a:r>
            <a:endParaRPr lang="en-US" sz="2800" dirty="0"/>
          </a:p>
        </p:txBody>
      </p:sp>
      <p:sp>
        <p:nvSpPr>
          <p:cNvPr id="4" name="kpi vídeos"/>
          <p:cNvSpPr/>
          <p:nvPr/>
        </p:nvSpPr>
        <p:spPr>
          <a:xfrm>
            <a:off x="457200" y="109728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48640" y="11704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72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vídeos</a:t>
            </a:r>
            <a:endParaRPr lang="en-US" sz="1200" dirty="0"/>
          </a:p>
        </p:txBody>
      </p:sp>
      <p:sp>
        <p:nvSpPr>
          <p:cNvPr id="7" name="kpi clusters de voz"/>
          <p:cNvSpPr/>
          <p:nvPr/>
        </p:nvSpPr>
        <p:spPr>
          <a:xfrm>
            <a:off x="2542032" y="109728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2633472" y="11704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2633472" y="1572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clusters de voz</a:t>
            </a:r>
            <a:endParaRPr lang="en-US" sz="1200" dirty="0"/>
          </a:p>
        </p:txBody>
      </p:sp>
      <p:sp>
        <p:nvSpPr>
          <p:cNvPr id="10" name="kpi de habla"/>
          <p:cNvSpPr/>
          <p:nvPr/>
        </p:nvSpPr>
        <p:spPr>
          <a:xfrm>
            <a:off x="4626864" y="109728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718304" y="11704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 min 15 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718304" y="1572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 habla</a:t>
            </a:r>
            <a:endParaRPr lang="en-US" sz="1200" dirty="0"/>
          </a:p>
        </p:txBody>
      </p:sp>
      <p:sp>
        <p:nvSpPr>
          <p:cNvPr id="13" name="kpi cobertura anotada"/>
          <p:cNvSpPr/>
          <p:nvPr/>
        </p:nvSpPr>
        <p:spPr>
          <a:xfrm>
            <a:off x="6711696" y="109728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803136" y="11704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803136" y="1572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cobertura anotada</a:t>
            </a:r>
            <a:endParaRPr lang="en-US" sz="1200" dirty="0"/>
          </a:p>
        </p:txBody>
      </p:sp>
      <p:sp>
        <p:nvSpPr>
          <p:cNvPr id="16" name="pestaña Resumen"/>
          <p:cNvSpPr/>
          <p:nvPr/>
        </p:nvSpPr>
        <p:spPr>
          <a:xfrm>
            <a:off x="457200" y="210312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4008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Resumen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560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Habla por género, turnos, aperturas y cierres.</a:t>
            </a:r>
            <a:endParaRPr lang="en-US" sz="1300" dirty="0"/>
          </a:p>
        </p:txBody>
      </p:sp>
      <p:sp>
        <p:nvSpPr>
          <p:cNvPr id="19" name="pestaña Comparación por vídeo"/>
          <p:cNvSpPr/>
          <p:nvPr/>
        </p:nvSpPr>
        <p:spPr>
          <a:xfrm>
            <a:off x="4663440" y="210312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84632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Comparación por vídeo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2560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Habla por voz, tipos de contenido y peso técnico de cada muestra.</a:t>
            </a:r>
            <a:endParaRPr lang="en-US" sz="1300" dirty="0"/>
          </a:p>
        </p:txBody>
      </p:sp>
      <p:sp>
        <p:nvSpPr>
          <p:cNvPr id="22" name="pestaña Representación"/>
          <p:cNvSpPr/>
          <p:nvPr/>
        </p:nvSpPr>
        <p:spPr>
          <a:xfrm>
            <a:off x="457200" y="324612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64008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Representación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3703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9 de 30 participantes son mujeres; media de 1 min 53 s frente a 1 min 27 s.</a:t>
            </a:r>
            <a:endParaRPr lang="en-US" sz="1300" dirty="0"/>
          </a:p>
        </p:txBody>
      </p:sp>
      <p:sp>
        <p:nvSpPr>
          <p:cNvPr id="25" name="pestaña Metodología"/>
          <p:cNvSpPr/>
          <p:nvPr/>
        </p:nvSpPr>
        <p:spPr>
          <a:xfrm>
            <a:off x="4663440" y="324612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484632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Metodología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4846320" y="3703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Pipeline, principios éticos, limitaciones y tecnologías.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389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Se ejecuta con: python -m streamlit run app.py (lee solo los JSON de outputs/, sin reprocesar vídeo).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Plan de puesta en producción</a:t>
            </a:r>
            <a:endParaRPr lang="en-US" sz="2800" dirty="0"/>
          </a:p>
        </p:txBody>
      </p:sp>
      <p:sp>
        <p:nvSpPr>
          <p:cNvPr id="4" name="fase 1"/>
          <p:cNvSpPr/>
          <p:nvPr/>
        </p:nvSpPr>
        <p:spPr>
          <a:xfrm>
            <a:off x="457200" y="1188720"/>
            <a:ext cx="1965960" cy="246888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badge 1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Consolidar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3317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Validar con más anotación, tests, empaquetado, licencia y documentación.</a:t>
            </a:r>
            <a:endParaRPr lang="en-US" sz="1300" dirty="0"/>
          </a:p>
        </p:txBody>
      </p:sp>
      <p:sp>
        <p:nvSpPr>
          <p:cNvPr id="9" name="fase 2"/>
          <p:cNvSpPr/>
          <p:nvPr/>
        </p:nvSpPr>
        <p:spPr>
          <a:xfrm>
            <a:off x="2606040" y="1188720"/>
            <a:ext cx="1965960" cy="246888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badge 2"/>
          <p:cNvSpPr/>
          <p:nvPr/>
        </p:nvSpPr>
        <p:spPr>
          <a:xfrm>
            <a:off x="274320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43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74320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Piloto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743200" y="23317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Uno o dos eventos con autorización y aviso a participantes; informe por evento.</a:t>
            </a:r>
            <a:endParaRPr lang="en-US" sz="1300" dirty="0"/>
          </a:p>
        </p:txBody>
      </p:sp>
      <p:sp>
        <p:nvSpPr>
          <p:cNvPr id="14" name="fase 3"/>
          <p:cNvSpPr/>
          <p:nvPr/>
        </p:nvSpPr>
        <p:spPr>
          <a:xfrm>
            <a:off x="4754880" y="1188720"/>
            <a:ext cx="1965960" cy="246888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badge 3"/>
          <p:cNvSpPr/>
          <p:nvPr/>
        </p:nvSpPr>
        <p:spPr>
          <a:xfrm>
            <a:off x="489204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920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89204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Servicio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892040" y="23317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Panel de resultados, retención limitada de datos, trazabilidad y auditoría.</a:t>
            </a:r>
            <a:endParaRPr lang="en-US" sz="1300" dirty="0"/>
          </a:p>
        </p:txBody>
      </p:sp>
      <p:sp>
        <p:nvSpPr>
          <p:cNvPr id="19" name="fase 4"/>
          <p:cNvSpPr/>
          <p:nvPr/>
        </p:nvSpPr>
        <p:spPr>
          <a:xfrm>
            <a:off x="6903720" y="1188720"/>
            <a:ext cx="1965960" cy="246888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badge 4"/>
          <p:cNvSpPr/>
          <p:nvPr/>
        </p:nvSpPr>
        <p:spPr>
          <a:xfrm>
            <a:off x="704088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04088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Mejora continua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23317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Monitorizar sesgos, probar modelos abiertos alternativos y ampliar idiomas.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3886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Propuesta de fases; plazos a acordar con la entidad adoptante.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Permisos y acuerdos necesarios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Necesidad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Acuerdo o permiso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Uso del vídeo y audio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Autorización o licencia de la organización del evento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Tratamiento de datos personales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Base legal definida e información previa a participantes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Género de participantes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 voluntario, declarado y de fuente verificable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Proveedor de nube e inferencia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Contrato de encargo de tratamiento con el proveedor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Riesgo para derechos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Evaluación de impacto y consulta al delegado de protección de datos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Difusión de resultados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Solo métricas agregadas y anonimizadas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749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A validar con asesoría jurídica y delegado de protección de datos.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Perspectiva de género</a:t>
            </a:r>
            <a:endParaRPr lang="en-US" sz="2800" dirty="0"/>
          </a:p>
        </p:txBody>
      </p:sp>
      <p:sp>
        <p:nvSpPr>
          <p:cNvPr id="4" name="genero 1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badge 1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371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Género declarado, no inferido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20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Solo se usa información documentada en perfiles oficiales; sin evidencia, 'unknown'.</a:t>
            </a:r>
            <a:endParaRPr lang="en-US" sz="1400" dirty="0"/>
          </a:p>
        </p:txBody>
      </p:sp>
      <p:sp>
        <p:nvSpPr>
          <p:cNvPr id="9" name="genero 2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badge 2"/>
          <p:cNvSpPr/>
          <p:nvPr/>
        </p:nvSpPr>
        <p:spPr>
          <a:xfrm>
            <a:off x="4846320" y="13716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94960" y="1371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Representación no es calidad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1920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Medimos presencia y control del turno; no valoramos el mérito de las intervenciones.</a:t>
            </a:r>
            <a:endParaRPr lang="en-US" sz="1400" dirty="0"/>
          </a:p>
        </p:txBody>
      </p:sp>
      <p:sp>
        <p:nvSpPr>
          <p:cNvPr id="14" name="genero 3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badge 3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Cautela en la lectura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611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Resultados formulados sobre las muestras analizadas, nunca como regla general.</a:t>
            </a:r>
            <a:endParaRPr lang="en-US" sz="1400" dirty="0"/>
          </a:p>
        </p:txBody>
      </p:sp>
      <p:sp>
        <p:nvSpPr>
          <p:cNvPr id="19" name="genero 4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badge 4"/>
          <p:cNvSpPr/>
          <p:nvPr/>
        </p:nvSpPr>
        <p:spPr>
          <a:xfrm>
            <a:off x="4846320" y="3063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463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39496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Sesgos del propio sistema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3611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Voz y acento pueden afectar a diarización y transcripción: medir el error por grupo.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Marco ético</a:t>
            </a:r>
            <a:endParaRPr lang="en-US" sz="2800" dirty="0"/>
          </a:p>
        </p:txBody>
      </p:sp>
      <p:sp>
        <p:nvSpPr>
          <p:cNvPr id="4" name="principio 1"/>
          <p:cNvSpPr/>
          <p:nvPr/>
        </p:nvSpPr>
        <p:spPr>
          <a:xfrm>
            <a:off x="457200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94360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Supervisión humana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783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correspondencia voz-participante se revisa a mano.</a:t>
            </a:r>
            <a:endParaRPr lang="en-US" sz="1400" dirty="0"/>
          </a:p>
        </p:txBody>
      </p:sp>
      <p:sp>
        <p:nvSpPr>
          <p:cNvPr id="7" name="principio 2"/>
          <p:cNvSpPr/>
          <p:nvPr/>
        </p:nvSpPr>
        <p:spPr>
          <a:xfrm>
            <a:off x="3246120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383280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Transparencia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1783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ambigüedad se conserva y se informa, no se fuerza.</a:t>
            </a:r>
            <a:endParaRPr lang="en-US" sz="1400" dirty="0"/>
          </a:p>
        </p:txBody>
      </p:sp>
      <p:sp>
        <p:nvSpPr>
          <p:cNvPr id="10" name="principio 3"/>
          <p:cNvSpPr/>
          <p:nvPr/>
        </p:nvSpPr>
        <p:spPr>
          <a:xfrm>
            <a:off x="6035040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172200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Privacidad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1783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 reconocimiento facial ni biometría; IDs anónimos y temporales.</a:t>
            </a:r>
            <a:endParaRPr lang="en-US" sz="1400" dirty="0"/>
          </a:p>
        </p:txBody>
      </p:sp>
      <p:sp>
        <p:nvSpPr>
          <p:cNvPr id="13" name="principio 4"/>
          <p:cNvSpPr/>
          <p:nvPr/>
        </p:nvSpPr>
        <p:spPr>
          <a:xfrm>
            <a:off x="457200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9436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No discriminación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3474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 clasificación de género automática de ningún tipo.</a:t>
            </a:r>
            <a:endParaRPr lang="en-US" sz="1400" dirty="0"/>
          </a:p>
        </p:txBody>
      </p:sp>
      <p:sp>
        <p:nvSpPr>
          <p:cNvPr id="16" name="principio 5"/>
          <p:cNvSpPr/>
          <p:nvPr/>
        </p:nvSpPr>
        <p:spPr>
          <a:xfrm>
            <a:off x="3246120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338328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Rendición de cuentas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383280" y="3474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Código abierto y salidas JSON auditables.</a:t>
            </a:r>
            <a:endParaRPr lang="en-US" sz="1400" dirty="0"/>
          </a:p>
        </p:txBody>
      </p:sp>
      <p:sp>
        <p:nvSpPr>
          <p:cNvPr id="19" name="principio 6"/>
          <p:cNvSpPr/>
          <p:nvPr/>
        </p:nvSpPr>
        <p:spPr>
          <a:xfrm>
            <a:off x="6035040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17220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LLM acotado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3474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Solo clasifica texto; no decide identidad, género ni presencia.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Cumplimiento normativo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Marco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Cómo lo abordamos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RGPD y LOPDGDD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Minimización, sin biometría, base legal, evaluación de impacto, retención limitada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Reglamento europeo de IA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Sin identificación ni categorización biométrica; supervisión humana; riesgo a confirmar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Imagen y propiedad intelectual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Autorización del organizador y licencias de los vídeos usados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Licencias de software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Componentes de terceros identificados y compatibles con la licencia del proyecto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023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Diseño orientado al cumplimiento; validación jurídica pendiente antes de un uso real.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Riesgos y mitigaciones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Riesgo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Mitigación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Sobreinterpretar resultados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Formulación acotada a las muestras; mostrar siempre los límites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Errores de diarización o alineación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Umbrales conservadores, estado 'ambiguo' y validación manual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Sesgo de modelos por voz o acento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Medir error por grupo antes de cualquier uso real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Reidentificación o uso indebido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IDs anónimos, resultados agregados, acuerdos de uso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Dependencia de un proveedor de LLM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Solución agnóstica del modelo; modelos abiertos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Licencias de terceros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Inventario en el README y revisión de compatibilidad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600" dirty="0"/>
          </a:p>
        </p:txBody>
      </p:sp>
      <p:sp>
        <p:nvSpPr>
          <p:cNvPr id="3" name="num 1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Abierto y reproducible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556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Pipeline multimodal con un solo comando, sin biometría y agnóstico del modelo.</a:t>
            </a:r>
            <a:endParaRPr lang="en-US" sz="1400" dirty="0"/>
          </a:p>
        </p:txBody>
      </p:sp>
      <p:sp>
        <p:nvSpPr>
          <p:cNvPr id="7" name="num 2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Evidencia, no opinión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072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En 5 fragmentos, las mujeres suman el 35,87 % del habla y son 9 de 30 voces.</a:t>
            </a:r>
            <a:endParaRPr lang="en-US" sz="1400" dirty="0"/>
          </a:p>
        </p:txBody>
      </p:sp>
      <p:sp>
        <p:nvSpPr>
          <p:cNvPr id="11" name="num 3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Honestidad sobre los límites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8587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La ambigüedad se conserva; el siguiente paso es validar y ampliar muestras.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Hoja de ruta: más muestras y anotación · medir error por grupo · empaquetado y licencia · piloto con autorización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jeresIA">
  <a:themeElements>
    <a:clrScheme name="MujeresIA">
      <a:dk1>
        <a:srgbClr val="1F1630"/>
      </a:dk1>
      <a:lt1>
        <a:srgbClr val="FFFFFF"/>
      </a:lt1>
      <a:dk2>
        <a:srgbClr val="2E1A47"/>
      </a:dk2>
      <a:lt2>
        <a:srgbClr val="F4EFFA"/>
      </a:lt2>
      <a:accent1>
        <a:srgbClr val="E8618C"/>
      </a:accent1>
      <a:accent2>
        <a:srgbClr val="5B4B8A"/>
      </a:accent2>
      <a:accent3>
        <a:srgbClr val="2A9D8F"/>
      </a:accent3>
      <a:accent4>
        <a:srgbClr val="F2A65A"/>
      </a:accent4>
      <a:accent5>
        <a:srgbClr val="8E7CC3"/>
      </a:accent5>
      <a:accent6>
        <a:srgbClr val="B8B0C9"/>
      </a:accent6>
      <a:hlink>
        <a:srgbClr val="5B4B8A"/>
      </a:hlink>
      <a:folHlink>
        <a:srgbClr val="8E7CC3"/>
      </a:folHlink>
    </a:clrScheme>
    <a:fontScheme name="MujeresI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Medición multimodal del protagonismo de las mujeres en paneles y conferencias tecnológicos</dc:title>
  <dc:subject>PptxGenJS Presentation</dc:subject>
  <dc:creator>Equipo Datitas</dc:creator>
  <cp:lastModifiedBy>Equipo Datitas</cp:lastModifiedBy>
  <cp:revision>1</cp:revision>
  <dcterms:created xsi:type="dcterms:W3CDTF">2026-10-29T21:23:43Z</dcterms:created>
  <dcterms:modified xsi:type="dcterms:W3CDTF">2026-10-29T21:23:43Z</dcterms:modified>
</cp:coreProperties>
</file>